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rincon77@gmail.com" userId="e39c7ca75b5b2df9" providerId="LiveId" clId="{05EDF9C2-DB79-4900-9538-8FCA99AEA632}"/>
    <pc:docChg chg="undo custSel modSld">
      <pc:chgData name="feliperincon77@gmail.com" userId="e39c7ca75b5b2df9" providerId="LiveId" clId="{05EDF9C2-DB79-4900-9538-8FCA99AEA632}" dt="2026-10-18T19:25:20.695" v="6" actId="21"/>
      <pc:docMkLst>
        <pc:docMk/>
      </pc:docMkLst>
      <pc:sldChg chg="delSp modSp mod">
        <pc:chgData name="feliperincon77@gmail.com" userId="e39c7ca75b5b2df9" providerId="LiveId" clId="{05EDF9C2-DB79-4900-9538-8FCA99AEA632}" dt="2026-10-18T19:25:20.695" v="6" actId="21"/>
        <pc:sldMkLst>
          <pc:docMk/>
          <pc:sldMk cId="0" sldId="256"/>
        </pc:sldMkLst>
        <pc:spChg chg="mod">
          <ac:chgData name="feliperincon77@gmail.com" userId="e39c7ca75b5b2df9" providerId="LiveId" clId="{05EDF9C2-DB79-4900-9538-8FCA99AEA632}" dt="2026-10-18T19:25:04.436" v="4" actId="20577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feliperincon77@gmail.com" userId="e39c7ca75b5b2df9" providerId="LiveId" clId="{05EDF9C2-DB79-4900-9538-8FCA99AEA632}" dt="2026-10-18T19:25:20.695" v="6" actId="21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5132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Portada. Presentar el objetivo: predecir generación promedio mensual a partir de máx/mín. Mencionar que todo se hizo con NumPy puro y que el informe DOCX es el entregable formal.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Explicar la lógica física: promedio entre min y max. Justificar por qué OLS con 2 predictores: interpretable, solución cerrada verificable a mano. Descartar total por fuga de información (días del mes).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Origen: API pública datos.gov.co. Decisión importante: no usar generación total porque es prácticamente promedio × días del mes. Muestra de 10 elegida a propósito para que el cálculo sea trazable.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Mostrar la tabla real de la muestra. Resaltar que cubre todo el rango (0,29 a 90,37) y 8 fuentes, y que las medias son Ȳ=23,5006. Esto permite hacer el cálculo a mano y verificar cada paso.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Presentar la ecuación y la interpretación de cada coeficiente. Justificar OLS por interpretabilidad y porque permite desarrollo manual. Mencionar hipótesis y advertir de la alta correlación entre máx y mín.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Explicar las tres operaciones: formar X, calcular XᵀX e Xᵀy, verificar determinante distinto de cero. Los números son reales de los archivos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Mostrar la ecuación final y cómo leerla. b₂ mayor que b₁ tiene sentido físico: el mínimo (piso) sostiene el promedio más que el máximo aislado. Mostrar la inversa como evidencia del cálculo matricial.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gradiente descendente es un método separado que confirma la ecuación normal. El coste cae de 713,88 a 0,1038 y los coeficientes en escala original coinciden dentro de 0,018. La convergencia es lenta por la alta correlación entre predictores.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Resaltar R² = 99,98 % y RMSE = 0,455 GWh (solo 1,9 % de la media). Advertir que con n=10 el R² de entrenamiento está inflado y hay que ser cauteloso al generalizar.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Hacer la sustitución en vivo: ŷ = 15,22 GWh. El intervalo ±RMSE da una idea de incertidumbre. El valor es plausible porque está entre 10 y 20. Mostrar la figura de dispersión alineada en la diagonal.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diapositiva es clave para el jurado. Ser honesto: n pequeño, colinealidad r=0,986, R² inflado. Recomendar no extrapolar. Las preguntas 'qué pasaría si' muestran comprensión profunda del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Cierre: ventajas del modelo, recomendación para operación real (más datos, estacionalidad, intervalos) y cómo se reproduce todo con los tres scripts más el informe 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1554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500" b="1" i="0">
                <a:solidFill>
                  <a:srgbClr val="F5B7B1"/>
                </a:solidFill>
                <a:latin typeface="Calibri"/>
              </a:rPr>
              <a:t>INFORME / PRESENTACIÓN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Regresión Lineal Múltiple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CFDAE6"/>
                </a:solidFill>
                <a:latin typeface="Calibri"/>
              </a:rPr>
              <a:t>Predicción del promedio mensual de generación eléctrica en Colombia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12801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 dirty="0">
                <a:solidFill>
                  <a:srgbClr val="FFFFFF"/>
                </a:solidFill>
                <a:latin typeface="Calibri"/>
              </a:rPr>
              <a:t>Variable </a:t>
            </a:r>
            <a:r>
              <a:rPr sz="1500" b="0" i="0" dirty="0" err="1">
                <a:solidFill>
                  <a:srgbClr val="FFFFFF"/>
                </a:solidFill>
                <a:latin typeface="Calibri"/>
              </a:rPr>
              <a:t>objetivo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 (Y): </a:t>
            </a:r>
            <a:r>
              <a:rPr sz="1500" b="0" i="0" dirty="0" err="1">
                <a:solidFill>
                  <a:srgbClr val="FFFFFF"/>
                </a:solidFill>
                <a:latin typeface="Calibri"/>
              </a:rPr>
              <a:t>promedio_mensual_gwh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   │   </a:t>
            </a:r>
            <a:r>
              <a:rPr sz="1500" b="0" i="0" dirty="0" err="1">
                <a:solidFill>
                  <a:srgbClr val="FFFFFF"/>
                </a:solidFill>
                <a:latin typeface="Calibri"/>
              </a:rPr>
              <a:t>Predictores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: </a:t>
            </a:r>
            <a:r>
              <a:rPr sz="1500" b="0" i="0" dirty="0" err="1">
                <a:solidFill>
                  <a:srgbClr val="FFFFFF"/>
                </a:solidFill>
                <a:latin typeface="Calibri"/>
              </a:rPr>
              <a:t>máximo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 (X₁) y </a:t>
            </a:r>
            <a:r>
              <a:rPr sz="1500" b="0" i="0" dirty="0" err="1">
                <a:solidFill>
                  <a:srgbClr val="FFFFFF"/>
                </a:solidFill>
                <a:latin typeface="Calibri"/>
              </a:rPr>
              <a:t>mínimo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 (X₂)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dirty="0" err="1">
                <a:solidFill>
                  <a:srgbClr val="CFDAE6"/>
                </a:solidFill>
                <a:latin typeface="Calibri"/>
              </a:rPr>
              <a:t>Método</a:t>
            </a:r>
            <a:r>
              <a:rPr sz="1400" b="0" i="0" dirty="0">
                <a:solidFill>
                  <a:srgbClr val="CFDAE6"/>
                </a:solidFill>
                <a:latin typeface="Calibri"/>
              </a:rPr>
              <a:t>: </a:t>
            </a:r>
            <a:r>
              <a:rPr sz="1400" b="0" i="0" dirty="0" err="1">
                <a:solidFill>
                  <a:srgbClr val="CFDAE6"/>
                </a:solidFill>
                <a:latin typeface="Calibri"/>
              </a:rPr>
              <a:t>ecuación</a:t>
            </a:r>
            <a:r>
              <a:rPr sz="1400" b="0" i="0" dirty="0">
                <a:solidFill>
                  <a:srgbClr val="CFDAE6"/>
                </a:solidFill>
                <a:latin typeface="Calibri"/>
              </a:rPr>
              <a:t> normal + </a:t>
            </a:r>
            <a:r>
              <a:rPr sz="1400" b="0" i="0" dirty="0" err="1">
                <a:solidFill>
                  <a:srgbClr val="CFDAE6"/>
                </a:solidFill>
                <a:latin typeface="Calibri"/>
              </a:rPr>
              <a:t>gradiente</a:t>
            </a:r>
            <a:r>
              <a:rPr sz="1400" b="0" i="0" dirty="0">
                <a:solidFill>
                  <a:srgbClr val="CFDAE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CFDAE6"/>
                </a:solidFill>
                <a:latin typeface="Calibri"/>
              </a:rPr>
              <a:t>descendente</a:t>
            </a:r>
            <a:r>
              <a:rPr sz="1400" b="0" i="0" dirty="0">
                <a:solidFill>
                  <a:srgbClr val="CFDAE6"/>
                </a:solidFill>
                <a:latin typeface="Calibri"/>
              </a:rPr>
              <a:t>  ·  </a:t>
            </a:r>
            <a:r>
              <a:rPr sz="1400" b="0" i="0" dirty="0" err="1">
                <a:solidFill>
                  <a:srgbClr val="CFDAE6"/>
                </a:solidFill>
                <a:latin typeface="Calibri"/>
              </a:rPr>
              <a:t>Muestra</a:t>
            </a:r>
            <a:r>
              <a:rPr sz="1400" b="0" i="0" dirty="0">
                <a:solidFill>
                  <a:srgbClr val="CFDAE6"/>
                </a:solidFill>
                <a:latin typeface="Calibri"/>
              </a:rPr>
              <a:t> n = 10  ·  Sin </a:t>
            </a:r>
            <a:r>
              <a:rPr sz="1400" b="0" i="0" dirty="0" err="1">
                <a:solidFill>
                  <a:srgbClr val="CFDAE6"/>
                </a:solidFill>
                <a:latin typeface="Calibri"/>
              </a:rPr>
              <a:t>sklearn</a:t>
            </a:r>
            <a:r>
              <a:rPr sz="1400" b="0" i="0" dirty="0">
                <a:solidFill>
                  <a:srgbClr val="CFDAE6"/>
                </a:solidFill>
                <a:latin typeface="Calibri"/>
              </a:rPr>
              <a:t> (NumPy puro)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 dirty="0">
                <a:solidFill>
                  <a:srgbClr val="CFDAE6"/>
                </a:solidFill>
                <a:latin typeface="Calibri"/>
              </a:rPr>
              <a:t>Fuente: datos.gov.co  ·  Vista </a:t>
            </a:r>
            <a:r>
              <a:rPr lang="es-CO" sz="1300" b="0" i="0" dirty="0">
                <a:solidFill>
                  <a:srgbClr val="CFDAE6"/>
                </a:solidFill>
                <a:latin typeface="Calibri"/>
              </a:rPr>
              <a:t>tq63-itzr</a:t>
            </a:r>
            <a:r>
              <a:rPr sz="1300" b="0" i="0" dirty="0">
                <a:solidFill>
                  <a:srgbClr val="CFDAE6"/>
                </a:solidFill>
                <a:latin typeface="Calibri"/>
              </a:rPr>
              <a:t> (2.786 </a:t>
            </a:r>
            <a:r>
              <a:rPr sz="1300" b="0" i="0" dirty="0" err="1">
                <a:solidFill>
                  <a:srgbClr val="CFDAE6"/>
                </a:solidFill>
                <a:latin typeface="Calibri"/>
              </a:rPr>
              <a:t>registros</a:t>
            </a:r>
            <a:r>
              <a:rPr sz="1300" b="0" i="0" dirty="0">
                <a:solidFill>
                  <a:srgbClr val="CFDAE6"/>
                </a:solidFill>
                <a:latin typeface="Calibri"/>
              </a:rPr>
              <a:t>, 2000–2026, 13 </a:t>
            </a:r>
            <a:r>
              <a:rPr sz="1300" b="0" i="0" dirty="0" err="1">
                <a:solidFill>
                  <a:srgbClr val="CFDAE6"/>
                </a:solidFill>
                <a:latin typeface="Calibri"/>
              </a:rPr>
              <a:t>fuentes</a:t>
            </a:r>
            <a:r>
              <a:rPr sz="1300" b="0" i="0" dirty="0">
                <a:solidFill>
                  <a:srgbClr val="CFDAE6"/>
                </a:solidFill>
                <a:latin typeface="Calibri"/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5B7B1"/>
                </a:solidFill>
                <a:latin typeface="Calibri"/>
              </a:rPr>
              <a:t>Planteamiento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¿Qué queremos predecir?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097280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555555"/>
                </a:solidFill>
                <a:latin typeface="Calibri"/>
              </a:rPr>
              <a:t>Regresión Lineal Múltiple  ·  Generación eléctrica Colombia  ·  datos.gov.co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6766560" cy="47548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2E5A88"/>
                </a:solidFill>
                <a:latin typeface="Calibri"/>
              </a:rPr>
              <a:t>▪  </a:t>
            </a:r>
            <a:r>
              <a:rPr sz="1600">
                <a:solidFill>
                  <a:srgbClr val="222222"/>
                </a:solidFill>
                <a:latin typeface="Calibri"/>
              </a:rPr>
              <a:t>Objetivo: predecir el promedio mensual de generación (Y, en GWh) a partir del máximo (X₁) y el mínimo (X₂) registrados en ese mes y fuente energética.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2E5A88"/>
                </a:solidFill>
                <a:latin typeface="Calibri"/>
              </a:rPr>
              <a:t>▪  </a:t>
            </a:r>
            <a:r>
              <a:rPr sz="1600">
                <a:solidFill>
                  <a:srgbClr val="222222"/>
                </a:solidFill>
                <a:latin typeface="Calibri"/>
              </a:rPr>
              <a:t>Tipo de problema: regresión supervisada con variable objetivo continua y dos predictores continuos.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2E5A88"/>
                </a:solidFill>
                <a:latin typeface="Calibri"/>
              </a:rPr>
              <a:t>▪  </a:t>
            </a:r>
            <a:r>
              <a:rPr sz="1600">
                <a:solidFill>
                  <a:srgbClr val="222222"/>
                </a:solidFill>
                <a:latin typeface="Calibri"/>
              </a:rPr>
              <a:t>Suposición física: el promedio mensual debe ubicarse entre el mínimo y el máximo, por lo que modelarlo como combinación lineal de ambos es coherente.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2E5A88"/>
                </a:solidFill>
                <a:latin typeface="Calibri"/>
              </a:rPr>
              <a:t>▪  </a:t>
            </a:r>
            <a:r>
              <a:rPr sz="1600">
                <a:solidFill>
                  <a:srgbClr val="222222"/>
                </a:solidFill>
                <a:latin typeface="Calibri"/>
              </a:rPr>
              <a:t>No usamos año, mes ni fuente como predictores: sirven solo para trazabilidad y estratificación de la muestra.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2E5A88"/>
                </a:solidFill>
                <a:latin typeface="Calibri"/>
              </a:rPr>
              <a:t>▪  </a:t>
            </a:r>
            <a:r>
              <a:rPr sz="1600">
                <a:solidFill>
                  <a:srgbClr val="222222"/>
                </a:solidFill>
                <a:latin typeface="Calibri"/>
              </a:rPr>
              <a:t>Descartamos generacion_total como predictor: total / promedio ≈ días del mes (sería predecir algo trivial).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371600"/>
            <a:ext cx="3977639" cy="475488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09560" y="1554480"/>
            <a:ext cx="35661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</a:rPr>
              <a:t>RESUMEN DEL MODELO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2057400"/>
            <a:ext cx="35204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2130552"/>
            <a:ext cx="329184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ŷ = b₀ + b₁·X₁ + b₂·X₂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1">
                <a:solidFill>
                  <a:srgbClr val="555555"/>
                </a:solidFill>
                <a:latin typeface="Calibri"/>
              </a:rPr>
              <a:t>Ecuación de regresión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2971800"/>
            <a:ext cx="35204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3044952"/>
            <a:ext cx="329184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b = (XᵀX)⁻¹·Xᵀy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1">
                <a:solidFill>
                  <a:srgbClr val="555555"/>
                </a:solidFill>
                <a:latin typeface="Calibri"/>
              </a:rPr>
              <a:t>Ecuación normal (mínimos cuadrados)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3886200"/>
            <a:ext cx="35204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0" y="3959352"/>
            <a:ext cx="329184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J(b) = (1/2m)·Σ(ŷᵢ − yᵢ)²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1">
                <a:solidFill>
                  <a:srgbClr val="555555"/>
                </a:solidFill>
                <a:latin typeface="Calibri"/>
              </a:rPr>
              <a:t>Función de costo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5B7B1"/>
                </a:solidFill>
                <a:latin typeface="Calibri"/>
              </a:rPr>
              <a:t>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Origen y preparación de la información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097280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555555"/>
                </a:solidFill>
                <a:latin typeface="Calibri"/>
              </a:rPr>
              <a:t>Regresión Lineal Múltiple  ·  Generación eléctrica Colombia  ·  datos.gov.co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66751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</a:rPr>
              <a:t>FUENTE OFICIAL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6675120" cy="21945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2E5A88"/>
                </a:solidFill>
                <a:latin typeface="Calibri"/>
              </a:rPr>
              <a:t>▪  </a:t>
            </a:r>
            <a:r>
              <a:rPr sz="1400">
                <a:solidFill>
                  <a:srgbClr val="222222"/>
                </a:solidFill>
                <a:latin typeface="Calibri"/>
              </a:rPr>
              <a:t>API: https://www.datos.gov.co/api/v3/views/tq63-itzr/query.json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2E5A88"/>
                </a:solidFill>
                <a:latin typeface="Calibri"/>
              </a:rPr>
              <a:t>▪  </a:t>
            </a:r>
            <a:r>
              <a:rPr sz="1400">
                <a:solidFill>
                  <a:srgbClr val="222222"/>
                </a:solidFill>
                <a:latin typeface="Calibri"/>
              </a:rPr>
              <a:t>Vista: generación eléctrica por fuente en Colombia (promedio / máximo / mínimo mensual en GWh)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2E5A88"/>
                </a:solidFill>
                <a:latin typeface="Calibri"/>
              </a:rPr>
              <a:t>▪  </a:t>
            </a:r>
            <a:r>
              <a:rPr sz="1400">
                <a:solidFill>
                  <a:srgbClr val="222222"/>
                </a:solidFill>
                <a:latin typeface="Calibri"/>
              </a:rPr>
              <a:t>Registros: 2.786 filas · periodo 2000–2026 · 13 fuentes energéticas (AGUA, GAS, CARBÓN, ACPM, etc.)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2E5A88"/>
                </a:solidFill>
                <a:latin typeface="Calibri"/>
              </a:rPr>
              <a:t>▪  </a:t>
            </a:r>
            <a:r>
              <a:rPr sz="1400">
                <a:solidFill>
                  <a:srgbClr val="222222"/>
                </a:solidFill>
                <a:latin typeface="Calibri"/>
              </a:rPr>
              <a:t>Descarga y limpieza automatizadas con 01_descargar.py → datos_completos.csv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66751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</a:rPr>
              <a:t>DECISIONES CLAVE SOBRE LOS 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6675120" cy="21945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2E5A88"/>
                </a:solidFill>
                <a:latin typeface="Calibri"/>
              </a:rPr>
              <a:t>▪  </a:t>
            </a:r>
            <a:r>
              <a:rPr sz="1400">
                <a:solidFill>
                  <a:srgbClr val="222222"/>
                </a:solidFill>
                <a:latin typeface="Calibri"/>
              </a:rPr>
              <a:t>No usar generacion_total: ratio total/promedio ≈ días del mes (mediana 30,0) → contaminado por duración del mes.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2E5A88"/>
                </a:solidFill>
                <a:latin typeface="Calibri"/>
              </a:rPr>
              <a:t>▪  </a:t>
            </a:r>
            <a:r>
              <a:rPr sz="1400">
                <a:solidFill>
                  <a:srgbClr val="222222"/>
                </a:solidFill>
                <a:latin typeface="Calibri"/>
              </a:rPr>
              <a:t>Muestra intencional estratificada n = 10 (8 fuentes, rango bajo/medio/alto) para cálculo manual verificable.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2E5A88"/>
                </a:solidFill>
                <a:latin typeface="Calibri"/>
              </a:rPr>
              <a:t>▪  </a:t>
            </a:r>
            <a:r>
              <a:rPr sz="1400">
                <a:solidFill>
                  <a:srgbClr val="222222"/>
                </a:solidFill>
                <a:latin typeface="Calibri"/>
              </a:rPr>
              <a:t>Sin valores nulos; no se eliminaron atípicos (ej. AGUA 70–90 GWh) porque son informativos.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1371600"/>
            <a:ext cx="397763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9560" y="1554480"/>
            <a:ext cx="35661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A5F"/>
                </a:solidFill>
                <a:latin typeface="Calibri"/>
              </a:rPr>
              <a:t>DATOS COMPLETOS (datos_completos.csv)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057400"/>
            <a:ext cx="21031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555555"/>
                </a:solidFill>
                <a:latin typeface="Calibri"/>
              </a:rPr>
              <a:t>Filas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057400"/>
            <a:ext cx="21488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2.786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514600"/>
            <a:ext cx="21031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555555"/>
                </a:solidFill>
                <a:latin typeface="Calibri"/>
              </a:rPr>
              <a:t>Periodo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514600"/>
            <a:ext cx="21488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2000 –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971800"/>
            <a:ext cx="21031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555555"/>
                </a:solidFill>
                <a:latin typeface="Calibri"/>
              </a:rPr>
              <a:t>Fuentes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2971800"/>
            <a:ext cx="21488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429000"/>
            <a:ext cx="21031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555555"/>
                </a:solidFill>
                <a:latin typeface="Calibri"/>
              </a:rPr>
              <a:t>Columnas numéricas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3429000"/>
            <a:ext cx="21488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3886200"/>
            <a:ext cx="21031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555555"/>
                </a:solidFill>
                <a:latin typeface="Calibri"/>
              </a:rPr>
              <a:t>Valores nulos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886200"/>
            <a:ext cx="21488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4343400"/>
            <a:ext cx="21031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555555"/>
                </a:solidFill>
                <a:latin typeface="Calibri"/>
              </a:rPr>
              <a:t>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4343400"/>
            <a:ext cx="21488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01_descargar.py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5B7B1"/>
                </a:solidFill>
                <a:latin typeface="Calibri"/>
              </a:rPr>
              <a:t>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Muestra de trabajo (n = 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097280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555555"/>
                </a:solidFill>
                <a:latin typeface="Calibri"/>
              </a:rPr>
              <a:t>Regresión Lineal Múltiple  ·  Generación eléctrica Colombia  ·  datos.gov.co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70432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A5F"/>
                </a:solidFill>
                <a:latin typeface="Calibri"/>
              </a:rPr>
              <a:t>MUESTRA INTENCIONAL ESTRATIFICADA (muestra_10.csv)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6949440" cy="3597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7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7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27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27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27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Año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Fuente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 (prom.)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X₁ (máx)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X₂ (mín)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2000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AGUA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70.28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76.41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57.63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2000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GAS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16.26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19.19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12.29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2000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CARBÓN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12.10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15.35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7.41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2000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OTROS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11.40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19.08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5.41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2001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ACPM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6.94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16.69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0.43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2001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GAS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23.98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26.34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19.80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2000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BAGAZO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0.29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0.32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0.06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2000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COMBUSTÓLEO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2.50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2.98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2001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JET-A1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1.16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2000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AGUA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90.37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103.01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70.30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623560"/>
            <a:ext cx="694944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1F3A5F"/>
                </a:solidFill>
                <a:latin typeface="Calibri"/>
              </a:rPr>
              <a:t>Medias: Ȳ = 23,5006  ·  media X₁ = 28,0531  ·  media X₂ = 17,3434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55555"/>
                </a:solidFill>
                <a:latin typeface="Calibri"/>
              </a:rPr>
              <a:t>Rango de Y: 0,29 a 90,37 GWh (cubre bajo, medio y alto)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371600"/>
            <a:ext cx="3703320" cy="48920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1536192"/>
            <a:ext cx="329184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A5F"/>
                </a:solidFill>
                <a:latin typeface="Calibri"/>
              </a:rPr>
              <a:t>CÓMO SE ELIGIÓ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20240"/>
            <a:ext cx="329184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2E5A88"/>
                </a:solidFill>
                <a:latin typeface="Calibri"/>
              </a:rPr>
              <a:t>▪  </a:t>
            </a:r>
            <a:r>
              <a:rPr sz="1200">
                <a:solidFill>
                  <a:srgbClr val="222222"/>
                </a:solidFill>
                <a:latin typeface="Calibri"/>
              </a:rPr>
              <a:t>10 registros, 8 fuentes distintas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2E5A88"/>
                </a:solidFill>
                <a:latin typeface="Calibri"/>
              </a:rPr>
              <a:t>▪  </a:t>
            </a:r>
            <a:r>
              <a:rPr sz="1200">
                <a:solidFill>
                  <a:srgbClr val="222222"/>
                </a:solidFill>
                <a:latin typeface="Calibri"/>
              </a:rPr>
              <a:t>Rango bajo (Bagazo, Jet-A1)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2E5A88"/>
                </a:solidFill>
                <a:latin typeface="Calibri"/>
              </a:rPr>
              <a:t>▪  </a:t>
            </a:r>
            <a:r>
              <a:rPr sz="1200">
                <a:solidFill>
                  <a:srgbClr val="222222"/>
                </a:solidFill>
                <a:latin typeface="Calibri"/>
              </a:rPr>
              <a:t>Rango medio (Gas, ACPM)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2E5A88"/>
                </a:solidFill>
                <a:latin typeface="Calibri"/>
              </a:rPr>
              <a:t>▪  </a:t>
            </a:r>
            <a:r>
              <a:rPr sz="1200">
                <a:solidFill>
                  <a:srgbClr val="222222"/>
                </a:solidFill>
                <a:latin typeface="Calibri"/>
              </a:rPr>
              <a:t>Rango alto (Agua)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2E5A88"/>
                </a:solidFill>
                <a:latin typeface="Calibri"/>
              </a:rPr>
              <a:t>▪  </a:t>
            </a:r>
            <a:r>
              <a:rPr sz="1200">
                <a:solidFill>
                  <a:srgbClr val="222222"/>
                </a:solidFill>
                <a:latin typeface="Calibri"/>
              </a:rPr>
              <a:t>Años y meses variados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2E5A88"/>
                </a:solidFill>
                <a:latin typeface="Calibri"/>
              </a:rPr>
              <a:t>▪  </a:t>
            </a:r>
            <a:r>
              <a:rPr sz="1200">
                <a:solidFill>
                  <a:srgbClr val="222222"/>
                </a:solidFill>
                <a:latin typeface="Calibri"/>
              </a:rPr>
              <a:t>Sin nulos, sin eliminar extremos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5B7B1"/>
                </a:solidFill>
                <a:latin typeface="Calibri"/>
              </a:rPr>
              <a:t>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Regresión Lineal Múltiple (OLS)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097280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555555"/>
                </a:solidFill>
                <a:latin typeface="Calibri"/>
              </a:rPr>
              <a:t>Regresión Lineal Múltiple  ·  Generación eléctrica Colombia  ·  datos.gov.co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881360" cy="105156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463040"/>
            <a:ext cx="1042416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F3A5F"/>
                </a:solidFill>
                <a:latin typeface="Calibri"/>
              </a:rPr>
              <a:t>ŷ = b₀ + b₁·X₁ + b₂·X₂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b₀ = intercepto   │   b₁ = efecto del máximo   │   b₂ = efecto del mínimo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5394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</a:rPr>
              <a:t>¿POR QUÉ ESTE ALGORITMO?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5394960" cy="34747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2E5A88"/>
                </a:solidFill>
                <a:latin typeface="Calibri"/>
              </a:rPr>
              <a:t>▪  </a:t>
            </a:r>
            <a:r>
              <a:rPr sz="1350">
                <a:solidFill>
                  <a:srgbClr val="222222"/>
                </a:solidFill>
                <a:latin typeface="Calibri"/>
              </a:rPr>
              <a:t>Objetivo continuo y relación física esperada (promedio ≈ función de máx/mín).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2E5A88"/>
                </a:solidFill>
                <a:latin typeface="Calibri"/>
              </a:rPr>
              <a:t>▪  </a:t>
            </a:r>
            <a:r>
              <a:rPr sz="1350">
                <a:solidFill>
                  <a:srgbClr val="222222"/>
                </a:solidFill>
                <a:latin typeface="Calibri"/>
              </a:rPr>
              <a:t>Solo 2 predictores → modelo interpretable: cada coeficiente se lee en GWh.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2E5A88"/>
                </a:solidFill>
                <a:latin typeface="Calibri"/>
              </a:rPr>
              <a:t>▪  </a:t>
            </a:r>
            <a:r>
              <a:rPr sz="1350">
                <a:solidFill>
                  <a:srgbClr val="222222"/>
                </a:solidFill>
                <a:latin typeface="Calibri"/>
              </a:rPr>
              <a:t>Solución cerrada verificable a mano con matrices 3×3 (objetivo pedagógico).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2E5A88"/>
                </a:solidFill>
                <a:latin typeface="Calibri"/>
              </a:rPr>
              <a:t>▪  </a:t>
            </a:r>
            <a:r>
              <a:rPr sz="1350">
                <a:solidFill>
                  <a:srgbClr val="222222"/>
                </a:solidFill>
                <a:latin typeface="Calibri"/>
              </a:rPr>
              <a:t>Descartadas: KNN/árboles (no dan ecuación explícita), regresión simple (pierde un predictor).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606040"/>
            <a:ext cx="51663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2743200"/>
            <a:ext cx="47548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A5F"/>
                </a:solidFill>
                <a:latin typeface="Calibri"/>
              </a:rPr>
              <a:t>HIPÓTESIS DEL MODELO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54680"/>
            <a:ext cx="4754880" cy="29260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2E5A88"/>
                </a:solidFill>
                <a:latin typeface="Calibri"/>
              </a:rPr>
              <a:t>▪  </a:t>
            </a:r>
            <a:r>
              <a:rPr sz="1250">
                <a:solidFill>
                  <a:srgbClr val="222222"/>
                </a:solidFill>
                <a:latin typeface="Calibri"/>
              </a:rPr>
              <a:t>Linealidad entre predictores y objetivo.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2E5A88"/>
                </a:solidFill>
                <a:latin typeface="Calibri"/>
              </a:rPr>
              <a:t>▪  </a:t>
            </a:r>
            <a:r>
              <a:rPr sz="1250">
                <a:solidFill>
                  <a:srgbClr val="222222"/>
                </a:solidFill>
                <a:latin typeface="Calibri"/>
              </a:rPr>
              <a:t>Errores de media cero e independencia.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2E5A88"/>
                </a:solidFill>
                <a:latin typeface="Calibri"/>
              </a:rPr>
              <a:t>▪  </a:t>
            </a:r>
            <a:r>
              <a:rPr sz="1250">
                <a:solidFill>
                  <a:srgbClr val="222222"/>
                </a:solidFill>
                <a:latin typeface="Calibri"/>
              </a:rPr>
              <a:t>Homocedasticidad (varianza de errores constante).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2E5A88"/>
                </a:solidFill>
                <a:latin typeface="Calibri"/>
              </a:rPr>
              <a:t>▪  </a:t>
            </a:r>
            <a:r>
              <a:rPr sz="1250">
                <a:solidFill>
                  <a:srgbClr val="222222"/>
                </a:solidFill>
                <a:latin typeface="Calibri"/>
              </a:rPr>
              <a:t>Multicolinealidad X₁–X₂: r = 0,986 (se discute como limitación).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5B7B1"/>
                </a:solidFill>
                <a:latin typeface="Calibri"/>
              </a:rPr>
              <a:t>Cálculo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Ecuación normal paso a paso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097280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555555"/>
                </a:solidFill>
                <a:latin typeface="Calibri"/>
              </a:rPr>
              <a:t>Regresión Lineal Múltiple  ·  Generación eléctrica Colombia  ·  datos.gov.co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A5F"/>
                </a:solidFill>
                <a:latin typeface="Calibri"/>
              </a:rPr>
              <a:t>MATRIZ DE DISEÑO X (10 × 3): columna de unos + X₁ + X₂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  <a:latin typeface="Calibri"/>
              </a:rPr>
              <a:t>XᵀX (3×3)   y   Xᵀy (3×1)  —  valores extraídos de XtX.csv y 02_modelo.py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1965960"/>
          <a:ext cx="3429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X₁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X₂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10,00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280,53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173,43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X₁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280,53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18.399,80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12.626,60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X₂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173,43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12.626,60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8.890,55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251960" y="1965960"/>
          <a:ext cx="3429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Componente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(Xᵀy)₀ = Σy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235,0061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(Xᵀy)₁ = ΣX₁·y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16.150,53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(Xᵀy)₂ = ΣX₂·y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11.232,44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" y="4069080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E7A3C"/>
                </a:solidFill>
                <a:latin typeface="Calibri"/>
              </a:rPr>
              <a:t>det(XᵀX) = 17.073.437,13  (≠ 0 → la matriz es invertible, tiene solución única)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80560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E5A88"/>
                </a:solidFill>
                <a:latin typeface="Calibri"/>
              </a:rPr>
              <a:t>Paso 2: calcular (XᵀX)⁻¹  →  Paso 3: multiplicar b = (XᵀX)⁻¹·Xᵀy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5B7B1"/>
                </a:solidFill>
                <a:latin typeface="Calibri"/>
              </a:rPr>
              <a:t>Cálculo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Resultado: coeficientes theta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097280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555555"/>
                </a:solidFill>
                <a:latin typeface="Calibri"/>
              </a:rPr>
              <a:t>Regresión Lineal Múltiple  ·  Generación eléctrica Colombia  ·  datos.gov.co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10881360" cy="137160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1042416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3000" b="1" i="0">
                <a:solidFill>
                  <a:srgbClr val="1F3A5F"/>
                </a:solidFill>
                <a:latin typeface="Calibri"/>
              </a:rPr>
              <a:t>b₀ = 0,3387      b₁ = 0,3988      b₂ = 0,6904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Valores exactos de theta.csv: b₀=0,338684 · b₁=0,398836 · b₂=0,690369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63240"/>
            <a:ext cx="52120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47548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</a:rPr>
              <a:t>ECUACIÓN FINAL APRENDIDA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57600"/>
            <a:ext cx="475488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ŷ = 0,3387 + 0,3988·X₁ + 0,6904·X₂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34840"/>
            <a:ext cx="4800600" cy="1645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22222"/>
                </a:solidFill>
                <a:latin typeface="Calibri"/>
              </a:rPr>
              <a:t>Interpretación operativa: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• Con X₁ = X₂ = 0 → predice 0,34 GWh (intercepto de ajuste).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• Cada GWh extra de máximo → +0,40 GWh al promedio.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• Cada GWh extra de mínimo → +0,69 GWh al promedio.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• b₂ &gt; b₁: el piso sostiene el promedio más que el pico aislado.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063240"/>
            <a:ext cx="5303520" cy="310896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200400"/>
            <a:ext cx="48463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A5F"/>
                </a:solidFill>
                <a:latin typeface="Calibri"/>
              </a:rPr>
              <a:t>MATRIZ (XᵀX)⁻¹ (XtX_inv.csv)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46520" y="3611880"/>
          <a:ext cx="489204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c0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c1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c2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f0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0,2433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−0,0178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0,0206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−0,0178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0,0034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−0,0045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f2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0,0206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−0,0045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0,0062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5B7B1"/>
                </a:solidFill>
                <a:latin typeface="Calibri"/>
              </a:rPr>
              <a:t>Validación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Gradiente descendente (método iterativo)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097280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555555"/>
                </a:solidFill>
                <a:latin typeface="Calibri"/>
              </a:rPr>
              <a:t>Regresión Lineal Múltiple  ·  Generación eléctrica Colombia  ·  datos.gov.co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A5F"/>
                </a:solidFill>
                <a:latin typeface="Calibri"/>
              </a:rPr>
              <a:t>VERIFICACIÓN INDEPENDIENTE DE LA ECUACIÓN NORMAL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5394960" cy="45720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2E5A88"/>
                </a:solidFill>
                <a:latin typeface="Calibri"/>
              </a:rPr>
              <a:t>▪  </a:t>
            </a:r>
            <a:r>
              <a:rPr sz="1350">
                <a:solidFill>
                  <a:srgbClr val="222222"/>
                </a:solidFill>
                <a:latin typeface="Calibri"/>
              </a:rPr>
              <a:t>Estandarización de X₁ y X₂ (media 0, desv. 1).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2E5A88"/>
                </a:solidFill>
                <a:latin typeface="Calibri"/>
              </a:rPr>
              <a:t>▪  </a:t>
            </a:r>
            <a:r>
              <a:rPr sz="1350">
                <a:solidFill>
                  <a:srgbClr val="222222"/>
                </a:solidFill>
                <a:latin typeface="Calibri"/>
              </a:rPr>
              <a:t>Inicialización b = (0,0,0) · tasa de aprendizaje α = 0,1.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2E5A88"/>
                </a:solidFill>
                <a:latin typeface="Calibri"/>
              </a:rPr>
              <a:t>▪  </a:t>
            </a:r>
            <a:r>
              <a:rPr sz="1350">
                <a:solidFill>
                  <a:srgbClr val="222222"/>
                </a:solidFill>
                <a:latin typeface="Calibri"/>
              </a:rPr>
              <a:t>2.000 iteraciones con J(b) = (1/2m)·Σe².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2E5A88"/>
                </a:solidFill>
                <a:latin typeface="Calibri"/>
              </a:rPr>
              <a:t>▪  </a:t>
            </a:r>
            <a:r>
              <a:rPr sz="1350">
                <a:solidFill>
                  <a:srgbClr val="222222"/>
                </a:solidFill>
                <a:latin typeface="Calibri"/>
              </a:rPr>
              <a:t>Costo inicial J = 713,88 → costo final J = 0,1038.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2E5A88"/>
                </a:solidFill>
                <a:latin typeface="Calibri"/>
              </a:rPr>
              <a:t>▪  </a:t>
            </a:r>
            <a:r>
              <a:rPr sz="1350">
                <a:solidFill>
                  <a:srgbClr val="222222"/>
                </a:solidFill>
                <a:latin typeface="Calibri"/>
              </a:rPr>
              <a:t>Converge a partir de la iteración ~500 (cambios &lt; 0,01).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2E5A88"/>
                </a:solidFill>
                <a:latin typeface="Calibri"/>
              </a:rPr>
              <a:t>▪  </a:t>
            </a:r>
            <a:r>
              <a:rPr sz="1350">
                <a:solidFill>
                  <a:srgbClr val="222222"/>
                </a:solidFill>
                <a:latin typeface="Calibri"/>
              </a:rPr>
              <a:t>Vuelto a escala original: b₀=0,3210 · b₁=0,4025 · b₂=0,6855.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2E5A88"/>
                </a:solidFill>
                <a:latin typeface="Calibri"/>
              </a:rPr>
              <a:t>▪  </a:t>
            </a:r>
            <a:r>
              <a:rPr sz="1350">
                <a:solidFill>
                  <a:srgbClr val="222222"/>
                </a:solidFill>
                <a:latin typeface="Calibri"/>
              </a:rPr>
              <a:t>Diferencia vs ecuación normal &lt; 0,018 → valida el cálculo exacto.</a:t>
            </a:r>
          </a:p>
        </p:txBody>
      </p:sp>
      <p:pic>
        <p:nvPicPr>
          <p:cNvPr id="11" name="Picture 10" descr="fig_converge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74519"/>
            <a:ext cx="5394960" cy="429201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5897880"/>
            <a:ext cx="539496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1">
                <a:solidFill>
                  <a:srgbClr val="555555"/>
                </a:solidFill>
                <a:latin typeface="Calibri"/>
              </a:rPr>
              <a:t>Figura 1. Costo J vs. iteración (α = 0,1).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5B7B1"/>
                </a:solidFill>
                <a:latin typeface="Calibri"/>
              </a:rPr>
              <a:t>Evaluación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Métricas de error y ajuste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097280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555555"/>
                </a:solidFill>
                <a:latin typeface="Calibri"/>
              </a:rPr>
              <a:t>Regresión Lineal Múltiple  ·  Generación eléctrica Colombia  ·  datos.gov.co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25880"/>
          <a:ext cx="6720838" cy="3346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5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9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Interpretación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SSE = Σe²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2,0719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Suma de errores al cuadrado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MSE = SSE/m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0,2072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Error cuadrado medio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RMSE = √MSE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0,4552 GWh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≈ 1,9 % de la media de Y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MAE = Σ|e|/m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0,3833 GWh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Error absoluto medio</a:t>
                      </a:r>
                    </a:p>
                  </a:txBody>
                  <a:tcPr marL="63500" marR="63500" marT="12700" marB="12700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SST = Σ(y−ȳ)²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8.754,82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Varianza total de Y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R² = 1 − SSE/SST</a:t>
                      </a:r>
                    </a:p>
                  </a:txBody>
                  <a:tcPr marL="63500" marR="63500" marT="12700" marB="12700"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0,999763 (99,98 %)</a:t>
                      </a:r>
                    </a:p>
                  </a:txBody>
                  <a:tcPr marL="63500" marR="63500" marT="12700" marB="12700"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Varianza explicada</a:t>
                      </a:r>
                    </a:p>
                  </a:txBody>
                  <a:tcPr marL="63500" marR="63500" marT="12700" marB="12700" anchor="ctr"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R² ajustado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0,999696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Ajustado por n y p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394960"/>
            <a:ext cx="6720840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Errores registro por registro (tabla_metricas.csv): máx |e| = 0,9708 (Combustóleo), mín |e| = 0,0064 (Jet-A1).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371600"/>
            <a:ext cx="3886200" cy="48920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09560" y="1536192"/>
            <a:ext cx="34747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A5F"/>
                </a:solidFill>
                <a:latin typeface="Calibri"/>
              </a:rPr>
              <a:t>LECTURA RÁPIDA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920240"/>
            <a:ext cx="347472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E5A88"/>
                </a:solidFill>
                <a:latin typeface="Calibri"/>
              </a:rPr>
              <a:t>▪  </a:t>
            </a:r>
            <a:r>
              <a:rPr sz="1250">
                <a:solidFill>
                  <a:srgbClr val="222222"/>
                </a:solidFill>
                <a:latin typeface="Calibri"/>
              </a:rPr>
              <a:t>R² ≈ 1 → max+mín explican casi toda la varianza del promedio en la muestra.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E5A88"/>
                </a:solidFill>
                <a:latin typeface="Calibri"/>
              </a:rPr>
              <a:t>▪  </a:t>
            </a:r>
            <a:r>
              <a:rPr sz="1250">
                <a:solidFill>
                  <a:srgbClr val="222222"/>
                </a:solidFill>
                <a:latin typeface="Calibri"/>
              </a:rPr>
              <a:t>RMSE de 0,46 GWh es muy pequeño frente a Ȳ = 23,5 GWh.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E5A88"/>
                </a:solidFill>
                <a:latin typeface="Calibri"/>
              </a:rPr>
              <a:t>▪  </a:t>
            </a:r>
            <a:r>
              <a:rPr sz="1250">
                <a:solidFill>
                  <a:srgbClr val="222222"/>
                </a:solidFill>
                <a:latin typeface="Calibri"/>
              </a:rPr>
              <a:t>Ajuste casi perfecto en entrenamiento (n = 10).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E5A88"/>
                </a:solidFill>
                <a:latin typeface="Calibri"/>
              </a:rPr>
              <a:t>▪  </a:t>
            </a:r>
            <a:r>
              <a:rPr sz="1250">
                <a:solidFill>
                  <a:srgbClr val="222222"/>
                </a:solidFill>
                <a:latin typeface="Calibri"/>
              </a:rPr>
              <a:t>Cuidado: R² puede estar inflado por muestra pequeña.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5B7B1"/>
                </a:solidFill>
                <a:latin typeface="Calibri"/>
              </a:rPr>
              <a:t>Aplicación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Predicción para un dato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097280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555555"/>
                </a:solidFill>
                <a:latin typeface="Calibri"/>
              </a:rPr>
              <a:t>Regresión Lineal Múltiple  ·  Generación eléctrica Colombia  ·  datos.gov.co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5394960" cy="23774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49377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A5F"/>
                </a:solidFill>
                <a:latin typeface="Calibri"/>
              </a:rPr>
              <a:t>DATO DE PRUEBA (no visto en entrenamiento)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49377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 i="0">
                <a:solidFill>
                  <a:srgbClr val="222222"/>
                </a:solidFill>
                <a:latin typeface="Calibri"/>
              </a:rPr>
              <a:t>Máximo X₁ = 20,0 GWh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 i="0">
                <a:solidFill>
                  <a:srgbClr val="222222"/>
                </a:solidFill>
                <a:latin typeface="Calibri"/>
              </a:rPr>
              <a:t>Mínimo X₂ = 10,0 GWh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468880"/>
            <a:ext cx="4937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578608"/>
            <a:ext cx="4663440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</a:rPr>
              <a:t>ŷ = 0,338684 + 0,398836×20,0 + 0,690369×10,0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1E7A3C"/>
                </a:solidFill>
                <a:latin typeface="Calibri"/>
              </a:rPr>
              <a:t>= 15,2191 GWh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77639"/>
            <a:ext cx="5394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A5F"/>
                </a:solidFill>
                <a:latin typeface="Calibri"/>
              </a:rPr>
              <a:t>INTERVALO ORIENTATIVO ± RMSE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43400"/>
            <a:ext cx="493776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[14,7639 ; 15,6743] GWh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1">
                <a:solidFill>
                  <a:srgbClr val="555555"/>
                </a:solidFill>
                <a:latin typeface="Calibri"/>
              </a:rPr>
              <a:t>Plausible: queda entre el mínimo (10) y el máximo (20).</a:t>
            </a:r>
          </a:p>
        </p:txBody>
      </p:sp>
      <p:pic>
        <p:nvPicPr>
          <p:cNvPr id="16" name="Picture 15" descr="fig_real_vs_p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00200"/>
            <a:ext cx="5303520" cy="427804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5080" y="5989320"/>
            <a:ext cx="53035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1">
                <a:solidFill>
                  <a:srgbClr val="555555"/>
                </a:solidFill>
                <a:latin typeface="Calibri"/>
              </a:rPr>
              <a:t>Figura 2. Real vs. predicho: puntos sobre la diagonal.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5B7B1"/>
                </a:solidFill>
                <a:latin typeface="Calibri"/>
              </a:rPr>
              <a:t>Análisis crítico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Limitaciones y advertencias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097280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555555"/>
                </a:solidFill>
                <a:latin typeface="Calibri"/>
              </a:rPr>
              <a:t>Regresión Lineal Múltiple  ·  Generación eléctrica Colombia  ·  datos.gov.co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881360" cy="23774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2E5A88"/>
                </a:solidFill>
                <a:latin typeface="Calibri"/>
              </a:rPr>
              <a:t>▪  </a:t>
            </a:r>
            <a:r>
              <a:rPr sz="1500">
                <a:solidFill>
                  <a:srgbClr val="222222"/>
                </a:solidFill>
                <a:latin typeface="Calibri"/>
              </a:rPr>
              <a:t>Muestra muy pequeña: n = 10 → el modelo memoriza la muestra; no se puede generalizar a las 2.786 filas sin más datos.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2E5A88"/>
                </a:solidFill>
                <a:latin typeface="Calibri"/>
              </a:rPr>
              <a:t>▪  </a:t>
            </a:r>
            <a:r>
              <a:rPr sz="1500">
                <a:solidFill>
                  <a:srgbClr val="222222"/>
                </a:solidFill>
                <a:latin typeface="Calibri"/>
              </a:rPr>
              <a:t>Multicolinealidad alta: X₁ y X₂ correlacionados (r = 0,986) → los coeficientes b₁ y b₂ son sensibles a pequeños cambios, aunque el pronóstico siga siendo bueno.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2E5A88"/>
                </a:solidFill>
                <a:latin typeface="Calibri"/>
              </a:rPr>
              <a:t>▪  </a:t>
            </a:r>
            <a:r>
              <a:rPr sz="1500">
                <a:solidFill>
                  <a:srgbClr val="222222"/>
                </a:solidFill>
                <a:latin typeface="Calibri"/>
              </a:rPr>
              <a:t>R² de entrenamiento inflado (0,9998): excelente para interpolar dentro de 0–103 GWh, pero no extrapolar a fuentes o años no representados.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77639"/>
            <a:ext cx="10881360" cy="2286000"/>
          </a:xfrm>
          <a:prstGeom prst="rect">
            <a:avLst/>
          </a:prstGeom>
          <a:solidFill>
            <a:srgbClr val="FDF2D9"/>
          </a:solidFill>
          <a:ln w="127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B07A1E"/>
                </a:solidFill>
                <a:latin typeface="Calibri"/>
              </a:rPr>
              <a:t>¿QUÉ PASARÍA SI…?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10424160" cy="16459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2E5A88"/>
                </a:solidFill>
                <a:latin typeface="Calibri"/>
              </a:rPr>
              <a:t>▪  </a:t>
            </a:r>
            <a:r>
              <a:rPr sz="1350">
                <a:solidFill>
                  <a:srgbClr val="222222"/>
                </a:solidFill>
                <a:latin typeface="Calibri"/>
              </a:rPr>
              <a:t>Forzar b₀ = 0 → el SSE se triplica (pierde ajuste fino en valores bajos como BAGAZO/JET-A1).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2E5A88"/>
                </a:solidFill>
                <a:latin typeface="Calibri"/>
              </a:rPr>
              <a:t>▪  </a:t>
            </a:r>
            <a:r>
              <a:rPr sz="1350">
                <a:solidFill>
                  <a:srgbClr val="222222"/>
                </a:solidFill>
                <a:latin typeface="Calibri"/>
              </a:rPr>
              <a:t>Eliminar X₂ → el R² cae (el mínimo aporta información independiente del pico).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2E5A88"/>
                </a:solidFill>
                <a:latin typeface="Calibri"/>
              </a:rPr>
              <a:t>▪  </a:t>
            </a:r>
            <a:r>
              <a:rPr sz="1350">
                <a:solidFill>
                  <a:srgbClr val="222222"/>
                </a:solidFill>
                <a:latin typeface="Calibri"/>
              </a:rPr>
              <a:t>La inversa de XᵀX tiene entradas grandes y opuestas (−0,0045 / +0,0062) que se compensan → inestabilidad numérica.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5B7B1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Conclusiones y reproducibilidad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097280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555555"/>
                </a:solidFill>
                <a:latin typeface="Calibri"/>
              </a:rPr>
              <a:t>Regresión Lineal Múltiple  ·  Generación eléctrica Colombia  ·  datos.gov.co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</a:rPr>
              <a:t>CONCLUSIONES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5394960" cy="44805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2E5A88"/>
                </a:solidFill>
                <a:latin typeface="Calibri"/>
              </a:rPr>
              <a:t>▪  </a:t>
            </a:r>
            <a:r>
              <a:rPr sz="1350">
                <a:solidFill>
                  <a:srgbClr val="222222"/>
                </a:solidFill>
                <a:latin typeface="Calibri"/>
              </a:rPr>
              <a:t>Ventaja: ecuación explícita, auditable y barata (invertir 3×3 es milisegundos). Cada coeficiente tiene lectura operativa para planeación energética.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2E5A88"/>
                </a:solidFill>
                <a:latin typeface="Calibri"/>
              </a:rPr>
              <a:t>▪  </a:t>
            </a:r>
            <a:r>
              <a:rPr sz="1350">
                <a:solidFill>
                  <a:srgbClr val="222222"/>
                </a:solidFill>
                <a:latin typeface="Calibri"/>
              </a:rPr>
              <a:t>Valor pedagógico: el cálculo manual enseña qué optimiza la máquina; el valor productivo está en automatizarlo (NumPy).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2E5A88"/>
                </a:solidFill>
                <a:latin typeface="Calibri"/>
              </a:rPr>
              <a:t>▪  </a:t>
            </a:r>
            <a:r>
              <a:rPr sz="1350">
                <a:solidFill>
                  <a:srgbClr val="222222"/>
                </a:solidFill>
                <a:latin typeface="Calibri"/>
              </a:rPr>
              <a:t>Para operación real: reentrenar con las 2.786 filas, añadir estacionalidad (mes) y reportar intervalos, no solo puntos.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5166360" cy="448056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508760"/>
            <a:ext cx="47548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A5F"/>
                </a:solidFill>
                <a:latin typeface="Calibri"/>
              </a:rPr>
              <a:t>REPRODUCIBILIDAD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20240"/>
            <a:ext cx="4754880" cy="3840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E5A88"/>
                </a:solidFill>
                <a:latin typeface="Calibri"/>
              </a:rPr>
              <a:t>▪  </a:t>
            </a:r>
            <a:r>
              <a:rPr sz="1250">
                <a:solidFill>
                  <a:srgbClr val="222222"/>
                </a:solidFill>
                <a:latin typeface="Calibri"/>
              </a:rPr>
              <a:t>01_descargar.py → descarga y limpia datos (datos_completos.csv)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E5A88"/>
                </a:solidFill>
                <a:latin typeface="Calibri"/>
              </a:rPr>
              <a:t>▪  </a:t>
            </a:r>
            <a:r>
              <a:rPr sz="1250">
                <a:solidFill>
                  <a:srgbClr val="222222"/>
                </a:solidFill>
                <a:latin typeface="Calibri"/>
              </a:rPr>
              <a:t>02_modelo.py → ecuación normal, gradiente, métricas, figuras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E5A88"/>
                </a:solidFill>
                <a:latin typeface="Calibri"/>
              </a:rPr>
              <a:t>▪  </a:t>
            </a:r>
            <a:r>
              <a:rPr sz="1250">
                <a:solidFill>
                  <a:srgbClr val="222222"/>
                </a:solidFill>
                <a:latin typeface="Calibri"/>
              </a:rPr>
              <a:t>03_informe.py → genera el DOCX formal automáticamente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E5A88"/>
                </a:solidFill>
                <a:latin typeface="Calibri"/>
              </a:rPr>
              <a:t>▪  </a:t>
            </a:r>
            <a:r>
              <a:rPr sz="1250">
                <a:solidFill>
                  <a:srgbClr val="222222"/>
                </a:solidFill>
                <a:latin typeface="Calibri"/>
              </a:rPr>
              <a:t>CSV intermedios: XtX.csv, XtX_inv.csv, theta.csv, tabla_metricas.csv, gradiente_iters.csv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E5A88"/>
                </a:solidFill>
                <a:latin typeface="Calibri"/>
              </a:rPr>
              <a:t>▪  </a:t>
            </a:r>
            <a:r>
              <a:rPr sz="1250">
                <a:solidFill>
                  <a:srgbClr val="222222"/>
                </a:solidFill>
                <a:latin typeface="Calibri"/>
              </a:rPr>
              <a:t>Entregable: Informe_Regresion_Lineal_Multiple.docx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E5A88"/>
                </a:solidFill>
                <a:latin typeface="Calibri"/>
              </a:rPr>
              <a:t>▪  </a:t>
            </a:r>
            <a:r>
              <a:rPr sz="1250">
                <a:solidFill>
                  <a:srgbClr val="222222"/>
                </a:solidFill>
                <a:latin typeface="Calibri"/>
              </a:rPr>
              <a:t>Entorno: venv (dependencias de Python)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2404</Words>
  <Application>Microsoft Office PowerPoint</Application>
  <PresentationFormat>Panorámica</PresentationFormat>
  <Paragraphs>313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feliperincon77@gmail.com</cp:lastModifiedBy>
  <cp:revision>2</cp:revision>
  <dcterms:created xsi:type="dcterms:W3CDTF">2013-01-27T09:14:16Z</dcterms:created>
  <dcterms:modified xsi:type="dcterms:W3CDTF">2026-10-19T00:51:15Z</dcterms:modified>
  <cp:category/>
</cp:coreProperties>
</file>